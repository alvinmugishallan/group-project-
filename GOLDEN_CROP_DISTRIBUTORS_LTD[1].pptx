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4" r:id="rId7"/>
    <p:sldId id="265"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50425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949671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3721318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096083-BE88-4378-A707-7EC30F6E92EF}"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427950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096083-BE88-4378-A707-7EC30F6E92EF}"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3582834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096083-BE88-4378-A707-7EC30F6E92EF}"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03723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096083-BE88-4378-A707-7EC30F6E92EF}"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92383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96083-BE88-4378-A707-7EC30F6E92EF}"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603196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96083-BE88-4378-A707-7EC30F6E92EF}"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359547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96083-BE88-4378-A707-7EC30F6E92EF}"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031285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977663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313297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80246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2696268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706206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1737735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96083-BE88-4378-A707-7EC30F6E92EF}"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1739F-4BFB-4B65-8FDB-3BF6E6818550}" type="slidenum">
              <a:rPr lang="en-US" smtClean="0"/>
              <a:t>‹#›</a:t>
            </a:fld>
            <a:endParaRPr lang="en-US"/>
          </a:p>
        </p:txBody>
      </p:sp>
    </p:spTree>
    <p:extLst>
      <p:ext uri="{BB962C8B-B14F-4D97-AF65-F5344CB8AC3E}">
        <p14:creationId xmlns:p14="http://schemas.microsoft.com/office/powerpoint/2010/main" val="2491696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096083-BE88-4378-A707-7EC30F6E92EF}" type="datetimeFigureOut">
              <a:rPr lang="en-US" smtClean="0"/>
              <a:t>11/19/2025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5B1739F-4BFB-4B65-8FDB-3BF6E6818550}" type="slidenum">
              <a:rPr lang="en-US" smtClean="0"/>
              <a:t>‹#›</a:t>
            </a:fld>
            <a:endParaRPr lang="en-US"/>
          </a:p>
        </p:txBody>
      </p:sp>
    </p:spTree>
    <p:extLst>
      <p:ext uri="{BB962C8B-B14F-4D97-AF65-F5344CB8AC3E}">
        <p14:creationId xmlns:p14="http://schemas.microsoft.com/office/powerpoint/2010/main" val="365956922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2DD99-F4FB-0694-D47E-F35A19AE01E0}"/>
              </a:ext>
            </a:extLst>
          </p:cNvPr>
          <p:cNvSpPr>
            <a:spLocks noGrp="1"/>
          </p:cNvSpPr>
          <p:nvPr>
            <p:ph type="ctrTitle"/>
          </p:nvPr>
        </p:nvSpPr>
        <p:spPr/>
        <p:txBody>
          <a:bodyPr>
            <a:normAutofit fontScale="90000"/>
          </a:bodyPr>
          <a:lstStyle/>
          <a:p>
            <a:r>
              <a:rPr lang="en-US" dirty="0"/>
              <a:t>GOLDEN CROP DISTRIBUTORS LTD.</a:t>
            </a:r>
            <a:br>
              <a:rPr lang="en-US" dirty="0"/>
            </a:br>
            <a:endParaRPr lang="en-US" dirty="0"/>
          </a:p>
        </p:txBody>
      </p:sp>
      <p:sp>
        <p:nvSpPr>
          <p:cNvPr id="3" name="Subtitle 2">
            <a:extLst>
              <a:ext uri="{FF2B5EF4-FFF2-40B4-BE49-F238E27FC236}">
                <a16:creationId xmlns:a16="http://schemas.microsoft.com/office/drawing/2014/main" id="{839E6AAD-075B-CED5-A7C4-5C12B1887CA5}"/>
              </a:ext>
            </a:extLst>
          </p:cNvPr>
          <p:cNvSpPr>
            <a:spLocks noGrp="1"/>
          </p:cNvSpPr>
          <p:nvPr>
            <p:ph type="subTitle" idx="1"/>
          </p:nvPr>
        </p:nvSpPr>
        <p:spPr>
          <a:xfrm>
            <a:off x="1524000" y="3602038"/>
            <a:ext cx="9144000" cy="2524442"/>
          </a:xfrm>
        </p:spPr>
        <p:txBody>
          <a:bodyPr>
            <a:normAutofit/>
          </a:bodyPr>
          <a:lstStyle/>
          <a:p>
            <a:r>
              <a:rPr lang="en-US" dirty="0"/>
              <a:t>By:</a:t>
            </a:r>
          </a:p>
          <a:p>
            <a:r>
              <a:rPr lang="en-US" dirty="0"/>
              <a:t>ATUGONZA DIANA M25B13/007</a:t>
            </a:r>
          </a:p>
          <a:p>
            <a:r>
              <a:rPr lang="en-US" dirty="0"/>
              <a:t>MUGISHA ALVIN M25B13/019</a:t>
            </a:r>
          </a:p>
          <a:p>
            <a:r>
              <a:rPr lang="en-US" dirty="0"/>
              <a:t>ATWINE BENJAMIN M25B13/027</a:t>
            </a:r>
          </a:p>
          <a:p>
            <a:r>
              <a:rPr lang="en-US" dirty="0"/>
              <a:t>KATUUKA MOSES M25B13/062</a:t>
            </a:r>
          </a:p>
          <a:p>
            <a:endParaRPr lang="en-US" dirty="0"/>
          </a:p>
          <a:p>
            <a:endParaRPr lang="en-US" dirty="0"/>
          </a:p>
        </p:txBody>
      </p:sp>
      <p:sp>
        <p:nvSpPr>
          <p:cNvPr id="4" name="Action Button: Go Forward or Next 3">
            <a:hlinkClick r:id="" action="ppaction://hlinkshowjump?jump=nextslide" highlightClick="1"/>
            <a:extLst>
              <a:ext uri="{FF2B5EF4-FFF2-40B4-BE49-F238E27FC236}">
                <a16:creationId xmlns:a16="http://schemas.microsoft.com/office/drawing/2014/main" id="{EE78ED97-992E-5054-F9AF-FC9083E5D763}"/>
              </a:ext>
            </a:extLst>
          </p:cNvPr>
          <p:cNvSpPr/>
          <p:nvPr/>
        </p:nvSpPr>
        <p:spPr>
          <a:xfrm>
            <a:off x="11149584" y="5815584"/>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3873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10E55-315B-9973-7BF3-7B3499750A75}"/>
              </a:ext>
            </a:extLst>
          </p:cNvPr>
          <p:cNvSpPr>
            <a:spLocks noGrp="1"/>
          </p:cNvSpPr>
          <p:nvPr>
            <p:ph type="title"/>
          </p:nvPr>
        </p:nvSpPr>
        <p:spPr/>
        <p:txBody>
          <a:bodyPr/>
          <a:lstStyle/>
          <a:p>
            <a:r>
              <a:rPr lang="en-US" dirty="0"/>
              <a:t>PROJECT OVERVIEW</a:t>
            </a:r>
          </a:p>
        </p:txBody>
      </p:sp>
      <p:sp>
        <p:nvSpPr>
          <p:cNvPr id="3" name="Text Placeholder 2">
            <a:extLst>
              <a:ext uri="{FF2B5EF4-FFF2-40B4-BE49-F238E27FC236}">
                <a16:creationId xmlns:a16="http://schemas.microsoft.com/office/drawing/2014/main" id="{A3A2A3A9-2227-DD0E-DBF0-34FADE933EBD}"/>
              </a:ext>
            </a:extLst>
          </p:cNvPr>
          <p:cNvSpPr>
            <a:spLocks noGrp="1"/>
          </p:cNvSpPr>
          <p:nvPr>
            <p:ph type="body" idx="1"/>
          </p:nvPr>
        </p:nvSpPr>
        <p:spPr/>
        <p:txBody>
          <a:bodyPr/>
          <a:lstStyle/>
          <a:p>
            <a:r>
              <a:rPr lang="en-US" dirty="0"/>
              <a:t>WHAT THE APP CAN POSSIBLY DO…!</a:t>
            </a:r>
          </a:p>
        </p:txBody>
      </p:sp>
      <p:sp>
        <p:nvSpPr>
          <p:cNvPr id="4" name="Content Placeholder 3">
            <a:extLst>
              <a:ext uri="{FF2B5EF4-FFF2-40B4-BE49-F238E27FC236}">
                <a16:creationId xmlns:a16="http://schemas.microsoft.com/office/drawing/2014/main" id="{5D7D3829-3F68-90E5-A451-4A1C018C6545}"/>
              </a:ext>
            </a:extLst>
          </p:cNvPr>
          <p:cNvSpPr>
            <a:spLocks noGrp="1"/>
          </p:cNvSpPr>
          <p:nvPr>
            <p:ph sz="half" idx="2"/>
          </p:nvPr>
        </p:nvSpPr>
        <p:spPr/>
        <p:txBody>
          <a:bodyPr>
            <a:normAutofit/>
          </a:bodyPr>
          <a:lstStyle/>
          <a:p>
            <a:r>
              <a:rPr lang="en-US" dirty="0"/>
              <a:t>-Record details </a:t>
            </a:r>
          </a:p>
          <a:p>
            <a:r>
              <a:rPr lang="en-US" dirty="0"/>
              <a:t>Validate data</a:t>
            </a:r>
          </a:p>
          <a:p>
            <a:r>
              <a:rPr lang="en-US" dirty="0"/>
              <a:t>Generate receipts</a:t>
            </a:r>
          </a:p>
          <a:p>
            <a:r>
              <a:rPr lang="en-US" dirty="0"/>
              <a:t>Automatically update stock levels after sales</a:t>
            </a:r>
          </a:p>
          <a:p>
            <a:r>
              <a:rPr lang="en-US" dirty="0"/>
              <a:t>Providing interactive dashboards </a:t>
            </a:r>
          </a:p>
          <a:p>
            <a:r>
              <a:rPr lang="en-US" dirty="0"/>
              <a:t>User authentication and authorization</a:t>
            </a:r>
          </a:p>
        </p:txBody>
      </p:sp>
      <p:sp>
        <p:nvSpPr>
          <p:cNvPr id="5" name="Text Placeholder 4">
            <a:extLst>
              <a:ext uri="{FF2B5EF4-FFF2-40B4-BE49-F238E27FC236}">
                <a16:creationId xmlns:a16="http://schemas.microsoft.com/office/drawing/2014/main" id="{23CABD1E-D7F7-F75E-EF2B-D72DF4CA4CD7}"/>
              </a:ext>
            </a:extLst>
          </p:cNvPr>
          <p:cNvSpPr>
            <a:spLocks noGrp="1"/>
          </p:cNvSpPr>
          <p:nvPr>
            <p:ph type="body" sz="quarter" idx="3"/>
          </p:nvPr>
        </p:nvSpPr>
        <p:spPr/>
        <p:txBody>
          <a:bodyPr/>
          <a:lstStyle/>
          <a:p>
            <a:r>
              <a:rPr lang="en-US" dirty="0"/>
              <a:t>Roughly caters for the following;</a:t>
            </a:r>
          </a:p>
        </p:txBody>
      </p:sp>
      <p:sp>
        <p:nvSpPr>
          <p:cNvPr id="6" name="Content Placeholder 5">
            <a:extLst>
              <a:ext uri="{FF2B5EF4-FFF2-40B4-BE49-F238E27FC236}">
                <a16:creationId xmlns:a16="http://schemas.microsoft.com/office/drawing/2014/main" id="{BAD967A5-F5A7-7A8F-837F-C56D255EE3C1}"/>
              </a:ext>
            </a:extLst>
          </p:cNvPr>
          <p:cNvSpPr>
            <a:spLocks noGrp="1"/>
          </p:cNvSpPr>
          <p:nvPr>
            <p:ph sz="quarter" idx="4"/>
          </p:nvPr>
        </p:nvSpPr>
        <p:spPr/>
        <p:txBody>
          <a:bodyPr>
            <a:normAutofit/>
          </a:bodyPr>
          <a:lstStyle/>
          <a:p>
            <a:r>
              <a:rPr lang="en-US" dirty="0"/>
              <a:t>CEO</a:t>
            </a:r>
          </a:p>
          <a:p>
            <a:r>
              <a:rPr lang="en-US" dirty="0"/>
              <a:t>Manager</a:t>
            </a:r>
          </a:p>
          <a:p>
            <a:r>
              <a:rPr lang="en-US" dirty="0"/>
              <a:t>Sales Agent</a:t>
            </a:r>
          </a:p>
          <a:p>
            <a:r>
              <a:rPr lang="en-US" dirty="0"/>
              <a:t>Customers</a:t>
            </a:r>
          </a:p>
        </p:txBody>
      </p:sp>
      <p:sp>
        <p:nvSpPr>
          <p:cNvPr id="7" name="Action Button: Go Forward or Next 6">
            <a:hlinkClick r:id="" action="ppaction://hlinkshowjump?jump=nextslide" highlightClick="1"/>
            <a:extLst>
              <a:ext uri="{FF2B5EF4-FFF2-40B4-BE49-F238E27FC236}">
                <a16:creationId xmlns:a16="http://schemas.microsoft.com/office/drawing/2014/main" id="{9F0BE6C3-17A1-D697-349D-814E173DCC6F}"/>
              </a:ext>
            </a:extLst>
          </p:cNvPr>
          <p:cNvSpPr/>
          <p:nvPr/>
        </p:nvSpPr>
        <p:spPr>
          <a:xfrm>
            <a:off x="11149584" y="5791199"/>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606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C879C-D505-06BE-0030-A04440AC1D88}"/>
              </a:ext>
            </a:extLst>
          </p:cNvPr>
          <p:cNvSpPr>
            <a:spLocks noGrp="1"/>
          </p:cNvSpPr>
          <p:nvPr>
            <p:ph type="title"/>
          </p:nvPr>
        </p:nvSpPr>
        <p:spPr>
          <a:xfrm>
            <a:off x="838200" y="365125"/>
            <a:ext cx="10515600" cy="915035"/>
          </a:xfrm>
        </p:spPr>
        <p:txBody>
          <a:bodyPr/>
          <a:lstStyle/>
          <a:p>
            <a:r>
              <a:rPr lang="en-US" dirty="0"/>
              <a:t>ABOUT OUR FRONTEND</a:t>
            </a:r>
          </a:p>
        </p:txBody>
      </p:sp>
      <p:sp>
        <p:nvSpPr>
          <p:cNvPr id="3" name="Content Placeholder 2">
            <a:extLst>
              <a:ext uri="{FF2B5EF4-FFF2-40B4-BE49-F238E27FC236}">
                <a16:creationId xmlns:a16="http://schemas.microsoft.com/office/drawing/2014/main" id="{4503764B-6087-79D6-6FF2-DABF4FB0D1CA}"/>
              </a:ext>
            </a:extLst>
          </p:cNvPr>
          <p:cNvSpPr>
            <a:spLocks noGrp="1"/>
          </p:cNvSpPr>
          <p:nvPr>
            <p:ph idx="1"/>
          </p:nvPr>
        </p:nvSpPr>
        <p:spPr>
          <a:xfrm>
            <a:off x="838200" y="1280160"/>
            <a:ext cx="10515600" cy="4896803"/>
          </a:xfrm>
        </p:spPr>
        <p:txBody>
          <a:bodyPr/>
          <a:lstStyle/>
          <a:p>
            <a:r>
              <a:rPr lang="en-US" dirty="0"/>
              <a:t>The frontend of the Golden Crop Distributors application is built as a modern app using React with Typescript(for type safety and maintainability), providing an intuitive and efficient user experience across all devices . It features professional interface with role-based dashboards for example managers , sales , CEO and customers dashboard which allows users to have specified roles and how they interact with the application.</a:t>
            </a:r>
          </a:p>
          <a:p>
            <a:r>
              <a:rPr lang="en-US" dirty="0"/>
              <a:t>Using React Router for seamless navigation and Chart.js for data visualization, the frontend delivers smooth, dynamic interactions while maintaining consistency across different viewports through CSS grid(for visually appealing layouts). The entire interface is designed with usability as a priority.</a:t>
            </a:r>
          </a:p>
        </p:txBody>
      </p:sp>
      <p:sp>
        <p:nvSpPr>
          <p:cNvPr id="4" name="Action Button: Go Forward or Next 3">
            <a:hlinkClick r:id="" action="ppaction://hlinkshowjump?jump=nextslide" highlightClick="1"/>
            <a:extLst>
              <a:ext uri="{FF2B5EF4-FFF2-40B4-BE49-F238E27FC236}">
                <a16:creationId xmlns:a16="http://schemas.microsoft.com/office/drawing/2014/main" id="{74425CA5-524F-F7D9-2B61-47F77799EC2E}"/>
              </a:ext>
            </a:extLst>
          </p:cNvPr>
          <p:cNvSpPr/>
          <p:nvPr/>
        </p:nvSpPr>
        <p:spPr>
          <a:xfrm>
            <a:off x="11149584" y="5815584"/>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681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F1751-171E-B529-B73D-8A314575218A}"/>
              </a:ext>
            </a:extLst>
          </p:cNvPr>
          <p:cNvSpPr>
            <a:spLocks noGrp="1"/>
          </p:cNvSpPr>
          <p:nvPr>
            <p:ph type="title"/>
          </p:nvPr>
        </p:nvSpPr>
        <p:spPr/>
        <p:txBody>
          <a:bodyPr/>
          <a:lstStyle/>
          <a:p>
            <a:r>
              <a:rPr lang="en-US" dirty="0"/>
              <a:t>Well, The Backend!!</a:t>
            </a:r>
          </a:p>
        </p:txBody>
      </p:sp>
      <p:sp>
        <p:nvSpPr>
          <p:cNvPr id="3" name="Content Placeholder 2">
            <a:extLst>
              <a:ext uri="{FF2B5EF4-FFF2-40B4-BE49-F238E27FC236}">
                <a16:creationId xmlns:a16="http://schemas.microsoft.com/office/drawing/2014/main" id="{2A37ADE4-4710-794D-46AA-4A4CA112A960}"/>
              </a:ext>
            </a:extLst>
          </p:cNvPr>
          <p:cNvSpPr>
            <a:spLocks noGrp="1"/>
          </p:cNvSpPr>
          <p:nvPr>
            <p:ph idx="1"/>
          </p:nvPr>
        </p:nvSpPr>
        <p:spPr/>
        <p:txBody>
          <a:bodyPr>
            <a:normAutofit fontScale="92500" lnSpcReduction="10000"/>
          </a:bodyPr>
          <a:lstStyle/>
          <a:p>
            <a:r>
              <a:rPr lang="en-US" dirty="0"/>
              <a:t>Its built using Node.js with Express.js offering a fast and lightweight server-side solution, RESTful API that handles all business logic, data processing, and secure communication between the frontend and the database.</a:t>
            </a:r>
          </a:p>
          <a:p>
            <a:r>
              <a:rPr lang="en-US" dirty="0"/>
              <a:t>The backend features comprehensive security through authentication and role-based authorization, ensuring that the different users like managers only access appropriate data and functionalities.</a:t>
            </a:r>
          </a:p>
          <a:p>
            <a:r>
              <a:rPr lang="en-US" dirty="0"/>
              <a:t>Containerized with Docker for consistent  deployment across environments, the backend demonstrates reliability and performance capable for supporting the company’s growing operation needs.</a:t>
            </a:r>
          </a:p>
        </p:txBody>
      </p:sp>
      <p:sp>
        <p:nvSpPr>
          <p:cNvPr id="4" name="Action Button: Go Forward or Next 3">
            <a:hlinkClick r:id="" action="ppaction://hlinkshowjump?jump=nextslide" highlightClick="1"/>
            <a:extLst>
              <a:ext uri="{FF2B5EF4-FFF2-40B4-BE49-F238E27FC236}">
                <a16:creationId xmlns:a16="http://schemas.microsoft.com/office/drawing/2014/main" id="{9178C908-806F-0759-2F3A-D6664AE5813A}"/>
              </a:ext>
            </a:extLst>
          </p:cNvPr>
          <p:cNvSpPr/>
          <p:nvPr/>
        </p:nvSpPr>
        <p:spPr>
          <a:xfrm>
            <a:off x="11149584" y="5815584"/>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8287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A4C8B-C51D-D5CA-EA88-8BF561F81E80}"/>
              </a:ext>
            </a:extLst>
          </p:cNvPr>
          <p:cNvSpPr>
            <a:spLocks noGrp="1"/>
          </p:cNvSpPr>
          <p:nvPr>
            <p:ph type="title"/>
          </p:nvPr>
        </p:nvSpPr>
        <p:spPr/>
        <p:txBody>
          <a:bodyPr/>
          <a:lstStyle/>
          <a:p>
            <a:r>
              <a:rPr lang="en-US" dirty="0"/>
              <a:t>So about the Database</a:t>
            </a:r>
          </a:p>
        </p:txBody>
      </p:sp>
      <p:sp>
        <p:nvSpPr>
          <p:cNvPr id="3" name="Content Placeholder 2">
            <a:extLst>
              <a:ext uri="{FF2B5EF4-FFF2-40B4-BE49-F238E27FC236}">
                <a16:creationId xmlns:a16="http://schemas.microsoft.com/office/drawing/2014/main" id="{0013E0FB-2017-6CD3-1D97-072C5216B112}"/>
              </a:ext>
            </a:extLst>
          </p:cNvPr>
          <p:cNvSpPr>
            <a:spLocks noGrp="1"/>
          </p:cNvSpPr>
          <p:nvPr>
            <p:ph idx="1"/>
          </p:nvPr>
        </p:nvSpPr>
        <p:spPr/>
        <p:txBody>
          <a:bodyPr>
            <a:normAutofit fontScale="92500"/>
          </a:bodyPr>
          <a:lstStyle/>
          <a:p>
            <a:r>
              <a:rPr lang="en-US" dirty="0"/>
              <a:t> Its Powered by MySQL managed with Type ORM (an ORM for schema management and database queries).</a:t>
            </a:r>
          </a:p>
          <a:p>
            <a:endParaRPr lang="en-US" dirty="0"/>
          </a:p>
          <a:p>
            <a:r>
              <a:rPr lang="en-US" dirty="0"/>
              <a:t>It consists of well-structured tables including users, products </a:t>
            </a:r>
            <a:r>
              <a:rPr lang="en-US" dirty="0" err="1"/>
              <a:t>etc</a:t>
            </a:r>
            <a:r>
              <a:rPr lang="en-US" dirty="0"/>
              <a:t> with appropriate foreign key constraints maintaining referential integrity across all transactions.</a:t>
            </a:r>
          </a:p>
          <a:p>
            <a:r>
              <a:rPr lang="en-US" dirty="0"/>
              <a:t>The database design supports complex queries for analytical reporting, with indexed fields optimizing performance for frequent operations.</a:t>
            </a:r>
          </a:p>
        </p:txBody>
      </p:sp>
      <p:sp>
        <p:nvSpPr>
          <p:cNvPr id="4" name="Action Button: Go Forward or Next 3">
            <a:hlinkClick r:id="" action="ppaction://hlinkshowjump?jump=nextslide" highlightClick="1"/>
            <a:extLst>
              <a:ext uri="{FF2B5EF4-FFF2-40B4-BE49-F238E27FC236}">
                <a16:creationId xmlns:a16="http://schemas.microsoft.com/office/drawing/2014/main" id="{9CD315E5-4B27-8F62-0F60-61C1810458BC}"/>
              </a:ext>
            </a:extLst>
          </p:cNvPr>
          <p:cNvSpPr/>
          <p:nvPr/>
        </p:nvSpPr>
        <p:spPr>
          <a:xfrm>
            <a:off x="11149584" y="5815584"/>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077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F515-8690-4666-ECAE-B8C25D8287B3}"/>
              </a:ext>
            </a:extLst>
          </p:cNvPr>
          <p:cNvSpPr>
            <a:spLocks noGrp="1"/>
          </p:cNvSpPr>
          <p:nvPr>
            <p:ph type="title"/>
          </p:nvPr>
        </p:nvSpPr>
        <p:spPr>
          <a:xfrm>
            <a:off x="1484311" y="1"/>
            <a:ext cx="10018713" cy="808662"/>
          </a:xfrm>
        </p:spPr>
        <p:txBody>
          <a:bodyPr/>
          <a:lstStyle/>
          <a:p>
            <a:r>
              <a:rPr lang="en-US" dirty="0"/>
              <a:t>SCREENSHOTS </a:t>
            </a:r>
            <a:endParaRPr lang="en-UG" dirty="0"/>
          </a:p>
        </p:txBody>
      </p:sp>
      <p:pic>
        <p:nvPicPr>
          <p:cNvPr id="6" name="Picture 5">
            <a:extLst>
              <a:ext uri="{FF2B5EF4-FFF2-40B4-BE49-F238E27FC236}">
                <a16:creationId xmlns:a16="http://schemas.microsoft.com/office/drawing/2014/main" id="{71622EDB-EE70-A393-6721-D85FCF223F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27402"/>
            <a:ext cx="5606321" cy="4130597"/>
          </a:xfrm>
          <a:prstGeom prst="rect">
            <a:avLst/>
          </a:prstGeom>
        </p:spPr>
      </p:pic>
      <p:pic>
        <p:nvPicPr>
          <p:cNvPr id="8" name="Picture 7">
            <a:extLst>
              <a:ext uri="{FF2B5EF4-FFF2-40B4-BE49-F238E27FC236}">
                <a16:creationId xmlns:a16="http://schemas.microsoft.com/office/drawing/2014/main" id="{698E972D-05B0-06AD-6FB1-C1D48D34B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2938072"/>
            <a:ext cx="4572000" cy="3860775"/>
          </a:xfrm>
          <a:prstGeom prst="rect">
            <a:avLst/>
          </a:prstGeom>
        </p:spPr>
      </p:pic>
      <p:pic>
        <p:nvPicPr>
          <p:cNvPr id="10" name="Picture 9">
            <a:extLst>
              <a:ext uri="{FF2B5EF4-FFF2-40B4-BE49-F238E27FC236}">
                <a16:creationId xmlns:a16="http://schemas.microsoft.com/office/drawing/2014/main" id="{9E607D07-6EBC-BB03-9417-1135015130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7658" y="808663"/>
            <a:ext cx="5501389" cy="2426592"/>
          </a:xfrm>
          <a:prstGeom prst="rect">
            <a:avLst/>
          </a:prstGeom>
        </p:spPr>
      </p:pic>
    </p:spTree>
    <p:extLst>
      <p:ext uri="{BB962C8B-B14F-4D97-AF65-F5344CB8AC3E}">
        <p14:creationId xmlns:p14="http://schemas.microsoft.com/office/powerpoint/2010/main" val="3468532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68665-A17A-B84B-65DB-5649B1D8CAB2}"/>
              </a:ext>
            </a:extLst>
          </p:cNvPr>
          <p:cNvSpPr>
            <a:spLocks noGrp="1"/>
          </p:cNvSpPr>
          <p:nvPr>
            <p:ph type="title"/>
          </p:nvPr>
        </p:nvSpPr>
        <p:spPr/>
        <p:txBody>
          <a:bodyPr/>
          <a:lstStyle/>
          <a:p>
            <a:endParaRPr lang="en-UG"/>
          </a:p>
        </p:txBody>
      </p:sp>
      <p:pic>
        <p:nvPicPr>
          <p:cNvPr id="4" name="Picture 3">
            <a:extLst>
              <a:ext uri="{FF2B5EF4-FFF2-40B4-BE49-F238E27FC236}">
                <a16:creationId xmlns:a16="http://schemas.microsoft.com/office/drawing/2014/main" id="{51FFB27F-7698-1059-3EF6-4E37C4D6D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002"/>
            <a:ext cx="6096000" cy="3403042"/>
          </a:xfrm>
          <a:prstGeom prst="rect">
            <a:avLst/>
          </a:prstGeom>
        </p:spPr>
      </p:pic>
      <p:pic>
        <p:nvPicPr>
          <p:cNvPr id="6" name="Picture 5">
            <a:extLst>
              <a:ext uri="{FF2B5EF4-FFF2-40B4-BE49-F238E27FC236}">
                <a16:creationId xmlns:a16="http://schemas.microsoft.com/office/drawing/2014/main" id="{1CBCF807-5B8F-291B-653E-2C1887DFAC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3628"/>
            <a:ext cx="6096001" cy="6850743"/>
          </a:xfrm>
          <a:prstGeom prst="rect">
            <a:avLst/>
          </a:prstGeom>
        </p:spPr>
      </p:pic>
    </p:spTree>
    <p:extLst>
      <p:ext uri="{BB962C8B-B14F-4D97-AF65-F5344CB8AC3E}">
        <p14:creationId xmlns:p14="http://schemas.microsoft.com/office/powerpoint/2010/main" val="4159538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4226-3604-98DB-0628-7001AC6BDF33}"/>
              </a:ext>
            </a:extLst>
          </p:cNvPr>
          <p:cNvSpPr>
            <a:spLocks noGrp="1"/>
          </p:cNvSpPr>
          <p:nvPr>
            <p:ph type="title"/>
          </p:nvPr>
        </p:nvSpPr>
        <p:spPr/>
        <p:txBody>
          <a:bodyPr/>
          <a:lstStyle/>
          <a:p>
            <a:r>
              <a:rPr lang="en-US" dirty="0"/>
              <a:t>PROCESSES AND ARCHITECTURE</a:t>
            </a:r>
          </a:p>
        </p:txBody>
      </p:sp>
      <p:sp>
        <p:nvSpPr>
          <p:cNvPr id="3" name="Content Placeholder 2">
            <a:extLst>
              <a:ext uri="{FF2B5EF4-FFF2-40B4-BE49-F238E27FC236}">
                <a16:creationId xmlns:a16="http://schemas.microsoft.com/office/drawing/2014/main" id="{CE45C616-25B3-A388-C455-10659621EFEB}"/>
              </a:ext>
            </a:extLst>
          </p:cNvPr>
          <p:cNvSpPr>
            <a:spLocks noGrp="1"/>
          </p:cNvSpPr>
          <p:nvPr>
            <p:ph idx="1"/>
          </p:nvPr>
        </p:nvSpPr>
        <p:spPr/>
        <p:txBody>
          <a:bodyPr/>
          <a:lstStyle/>
          <a:p>
            <a:pPr marL="0" indent="0">
              <a:buNone/>
            </a:pPr>
            <a:endParaRPr lang="en-US" dirty="0"/>
          </a:p>
          <a:p>
            <a:r>
              <a:rPr lang="en-US" dirty="0"/>
              <a:t>Frontend to Backend communication: The frontend interacts with the backend  APIs to retrieve and manage data.</a:t>
            </a:r>
          </a:p>
          <a:p>
            <a:r>
              <a:rPr lang="en-US" dirty="0"/>
              <a:t>Entity-Relationship Modeling: Type ORM entities define the database structure for products, users and more in the backend.</a:t>
            </a:r>
          </a:p>
          <a:p>
            <a:r>
              <a:rPr lang="en-US" dirty="0"/>
              <a:t>Seamless Deployment Work flow: Using Docker and docker-compose, all services are containerized for consistency and easy deployment.</a:t>
            </a:r>
          </a:p>
        </p:txBody>
      </p:sp>
      <p:sp>
        <p:nvSpPr>
          <p:cNvPr id="4" name="Action Button: Go Forward or Next 3">
            <a:hlinkClick r:id="" action="ppaction://hlinkshowjump?jump=nextslide" highlightClick="1"/>
            <a:extLst>
              <a:ext uri="{FF2B5EF4-FFF2-40B4-BE49-F238E27FC236}">
                <a16:creationId xmlns:a16="http://schemas.microsoft.com/office/drawing/2014/main" id="{7671DCD4-B05E-F385-7C56-1C2EAED83707}"/>
              </a:ext>
            </a:extLst>
          </p:cNvPr>
          <p:cNvSpPr/>
          <p:nvPr/>
        </p:nvSpPr>
        <p:spPr>
          <a:xfrm>
            <a:off x="11149584" y="5791200"/>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5819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FA91-4130-6CDD-0744-84343B3E7356}"/>
              </a:ext>
            </a:extLst>
          </p:cNvPr>
          <p:cNvSpPr>
            <a:spLocks noGrp="1"/>
          </p:cNvSpPr>
          <p:nvPr>
            <p:ph type="title"/>
          </p:nvPr>
        </p:nvSpPr>
        <p:spPr/>
        <p:txBody>
          <a:bodyPr/>
          <a:lstStyle/>
          <a:p>
            <a:r>
              <a:rPr lang="en-US" dirty="0"/>
              <a:t>DEVELOPMENT PROCESS AND CHALLENGES SOLVED</a:t>
            </a:r>
          </a:p>
        </p:txBody>
      </p:sp>
      <p:sp>
        <p:nvSpPr>
          <p:cNvPr id="3" name="Text Placeholder 2">
            <a:extLst>
              <a:ext uri="{FF2B5EF4-FFF2-40B4-BE49-F238E27FC236}">
                <a16:creationId xmlns:a16="http://schemas.microsoft.com/office/drawing/2014/main" id="{D4326EA8-DDFE-AA42-AB77-FEFE9444ADBF}"/>
              </a:ext>
            </a:extLst>
          </p:cNvPr>
          <p:cNvSpPr>
            <a:spLocks noGrp="1"/>
          </p:cNvSpPr>
          <p:nvPr>
            <p:ph type="body" idx="1"/>
          </p:nvPr>
        </p:nvSpPr>
        <p:spPr/>
        <p:txBody>
          <a:bodyPr/>
          <a:lstStyle/>
          <a:p>
            <a:r>
              <a:rPr lang="en-US" dirty="0"/>
              <a:t>Key highlight processes</a:t>
            </a:r>
          </a:p>
        </p:txBody>
      </p:sp>
      <p:sp>
        <p:nvSpPr>
          <p:cNvPr id="4" name="Content Placeholder 3">
            <a:extLst>
              <a:ext uri="{FF2B5EF4-FFF2-40B4-BE49-F238E27FC236}">
                <a16:creationId xmlns:a16="http://schemas.microsoft.com/office/drawing/2014/main" id="{6A232F6C-B6C3-AC1D-25E1-EED9BF337F08}"/>
              </a:ext>
            </a:extLst>
          </p:cNvPr>
          <p:cNvSpPr>
            <a:spLocks noGrp="1"/>
          </p:cNvSpPr>
          <p:nvPr>
            <p:ph sz="half" idx="2"/>
          </p:nvPr>
        </p:nvSpPr>
        <p:spPr/>
        <p:txBody>
          <a:bodyPr>
            <a:normAutofit/>
          </a:bodyPr>
          <a:lstStyle/>
          <a:p>
            <a:r>
              <a:rPr lang="en-US" dirty="0"/>
              <a:t>Local development with mock services(</a:t>
            </a:r>
            <a:r>
              <a:rPr lang="en-US" dirty="0" err="1"/>
              <a:t>mock.ts</a:t>
            </a:r>
            <a:r>
              <a:rPr lang="en-US" dirty="0"/>
              <a:t>) for frontend testing.</a:t>
            </a:r>
          </a:p>
          <a:p>
            <a:r>
              <a:rPr lang="en-US" dirty="0"/>
              <a:t>-Production support with live database connections and environment variables.</a:t>
            </a:r>
          </a:p>
          <a:p>
            <a:r>
              <a:rPr lang="en-US" dirty="0"/>
              <a:t>-Regular integration and testing to ensure everything works seamlessly.</a:t>
            </a:r>
          </a:p>
        </p:txBody>
      </p:sp>
      <p:sp>
        <p:nvSpPr>
          <p:cNvPr id="5" name="Text Placeholder 4">
            <a:extLst>
              <a:ext uri="{FF2B5EF4-FFF2-40B4-BE49-F238E27FC236}">
                <a16:creationId xmlns:a16="http://schemas.microsoft.com/office/drawing/2014/main" id="{7D56CA88-AC3A-770A-818C-1B0183387A5C}"/>
              </a:ext>
            </a:extLst>
          </p:cNvPr>
          <p:cNvSpPr>
            <a:spLocks noGrp="1"/>
          </p:cNvSpPr>
          <p:nvPr>
            <p:ph type="body" sz="quarter" idx="3"/>
          </p:nvPr>
        </p:nvSpPr>
        <p:spPr/>
        <p:txBody>
          <a:bodyPr/>
          <a:lstStyle/>
          <a:p>
            <a:r>
              <a:rPr lang="en-US" dirty="0"/>
              <a:t>Challenges solved</a:t>
            </a:r>
          </a:p>
        </p:txBody>
      </p:sp>
      <p:sp>
        <p:nvSpPr>
          <p:cNvPr id="6" name="Content Placeholder 5">
            <a:extLst>
              <a:ext uri="{FF2B5EF4-FFF2-40B4-BE49-F238E27FC236}">
                <a16:creationId xmlns:a16="http://schemas.microsoft.com/office/drawing/2014/main" id="{3BB0388E-ACD1-ED72-1D84-091406E5C501}"/>
              </a:ext>
            </a:extLst>
          </p:cNvPr>
          <p:cNvSpPr>
            <a:spLocks noGrp="1"/>
          </p:cNvSpPr>
          <p:nvPr>
            <p:ph sz="quarter" idx="4"/>
          </p:nvPr>
        </p:nvSpPr>
        <p:spPr/>
        <p:txBody>
          <a:bodyPr>
            <a:normAutofit/>
          </a:bodyPr>
          <a:lstStyle/>
          <a:p>
            <a:r>
              <a:rPr lang="en-US" dirty="0"/>
              <a:t>Using typescript aids in reducing runtime errors during feature development.</a:t>
            </a:r>
          </a:p>
          <a:p>
            <a:r>
              <a:rPr lang="en-US" dirty="0"/>
              <a:t>Improved user experience with efficient layouts using react.</a:t>
            </a:r>
          </a:p>
        </p:txBody>
      </p:sp>
      <p:sp>
        <p:nvSpPr>
          <p:cNvPr id="7" name="Action Button: Go Forward or Next 6">
            <a:hlinkClick r:id="" action="ppaction://hlinkshowjump?jump=nextslide" highlightClick="1"/>
            <a:extLst>
              <a:ext uri="{FF2B5EF4-FFF2-40B4-BE49-F238E27FC236}">
                <a16:creationId xmlns:a16="http://schemas.microsoft.com/office/drawing/2014/main" id="{88E21C57-5E02-76CF-32CE-102CADAF7C9E}"/>
              </a:ext>
            </a:extLst>
          </p:cNvPr>
          <p:cNvSpPr/>
          <p:nvPr/>
        </p:nvSpPr>
        <p:spPr>
          <a:xfrm>
            <a:off x="11122023" y="5791199"/>
            <a:ext cx="1042416" cy="1042416"/>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8400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074F-DB42-C446-02EE-2A896E7CCCA0}"/>
              </a:ext>
            </a:extLst>
          </p:cNvPr>
          <p:cNvSpPr>
            <a:spLocks noGrp="1"/>
          </p:cNvSpPr>
          <p:nvPr>
            <p:ph type="title"/>
          </p:nvPr>
        </p:nvSpPr>
        <p:spPr/>
        <p:txBody>
          <a:bodyPr/>
          <a:lstStyle/>
          <a:p>
            <a:r>
              <a:rPr lang="en-US" dirty="0"/>
              <a:t>In Conclusion;</a:t>
            </a:r>
          </a:p>
        </p:txBody>
      </p:sp>
      <p:sp>
        <p:nvSpPr>
          <p:cNvPr id="3" name="Content Placeholder 2">
            <a:extLst>
              <a:ext uri="{FF2B5EF4-FFF2-40B4-BE49-F238E27FC236}">
                <a16:creationId xmlns:a16="http://schemas.microsoft.com/office/drawing/2014/main" id="{1BABDA42-7A87-8DF5-3D16-9C11242FA0AD}"/>
              </a:ext>
            </a:extLst>
          </p:cNvPr>
          <p:cNvSpPr>
            <a:spLocks noGrp="1"/>
          </p:cNvSpPr>
          <p:nvPr>
            <p:ph idx="1"/>
          </p:nvPr>
        </p:nvSpPr>
        <p:spPr/>
        <p:txBody>
          <a:bodyPr/>
          <a:lstStyle/>
          <a:p>
            <a:r>
              <a:rPr lang="en-US" dirty="0"/>
              <a:t>The Golden Crop Distributors web application represents a comprehensive digital transformation solution that successfully modernizes traditional distribution operations. By leveraging the powerful combination of react with Type script for the frontend, java for the backend ,and MySQL for data management.</a:t>
            </a:r>
          </a:p>
        </p:txBody>
      </p:sp>
      <p:sp>
        <p:nvSpPr>
          <p:cNvPr id="4" name="Action Button: Go to Beginning 3">
            <a:hlinkClick r:id="" action="ppaction://hlinkshowjump?jump=firstslide" highlightClick="1"/>
            <a:extLst>
              <a:ext uri="{FF2B5EF4-FFF2-40B4-BE49-F238E27FC236}">
                <a16:creationId xmlns:a16="http://schemas.microsoft.com/office/drawing/2014/main" id="{8BEBEA41-76D7-0C4A-5ED1-F2CE16D67D0A}"/>
              </a:ext>
            </a:extLst>
          </p:cNvPr>
          <p:cNvSpPr/>
          <p:nvPr/>
        </p:nvSpPr>
        <p:spPr>
          <a:xfrm>
            <a:off x="11149584" y="5791200"/>
            <a:ext cx="1042416" cy="1042416"/>
          </a:xfrm>
          <a:prstGeom prst="actionButtonBeginn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8986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40</TotalTime>
  <Words>510</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Parallax</vt:lpstr>
      <vt:lpstr>GOLDEN CROP DISTRIBUTORS LTD. </vt:lpstr>
      <vt:lpstr>PROJECT OVERVIEW</vt:lpstr>
      <vt:lpstr>ABOUT OUR FRONTEND</vt:lpstr>
      <vt:lpstr>Well, The Backend!!</vt:lpstr>
      <vt:lpstr>So about the Database</vt:lpstr>
      <vt:lpstr>SCREENSHOTS </vt:lpstr>
      <vt:lpstr>PowerPoint Presentation</vt:lpstr>
      <vt:lpstr>PROCESSES AND ARCHITECTURE</vt:lpstr>
      <vt:lpstr>DEVELOPMENT PROCESS AND CHALLENGES SOLVED</vt:lpstr>
      <vt:lpstr>In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CROP DISTRIBUTORS LTD. </dc:title>
  <dc:creator>LENOVO</dc:creator>
  <cp:lastModifiedBy>Mugisha Alvin</cp:lastModifiedBy>
  <cp:revision>2</cp:revision>
  <dcterms:created xsi:type="dcterms:W3CDTF">2025-11-18T21:05:25Z</dcterms:created>
  <dcterms:modified xsi:type="dcterms:W3CDTF">2025-11-19T13:45:21Z</dcterms:modified>
</cp:coreProperties>
</file>